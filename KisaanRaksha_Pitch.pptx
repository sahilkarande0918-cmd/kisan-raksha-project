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58" r:id="rId8"/>
  </p:sldIdLst>
  <p:sldSz cx="18288000" cy="10287000"/>
  <p:notesSz cx="6858000" cy="9144000"/>
  <p:embeddedFontLst>
    <p:embeddedFont>
      <p:font typeface="Open Sans" charset="1" panose="020B0606030504020204"/>
      <p:regular r:id="rId9"/>
    </p:embeddedFont>
    <p:embeddedFont>
      <p:font typeface="Canva Sans Bold" charset="1" panose="020B0803030501040103"/>
      <p:regular r:id="rId10"/>
    </p:embeddedFont>
    <p:embeddedFont>
      <p:font typeface="Canva Sans" charset="1" panose="020B0503030501040103"/>
      <p:regular r:id="rId11"/>
    </p:embeddedFont>
    <p:embeddedFont>
      <p:font typeface="Rosario Bold" charset="1" panose="020005030600000200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11.xml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94961" y="8571468"/>
            <a:ext cx="2960969" cy="686832"/>
          </a:xfrm>
          <a:custGeom>
            <a:avLst/>
            <a:gdLst/>
            <a:ahLst/>
            <a:cxnLst/>
            <a:rect r="r" b="b" t="t" l="l"/>
            <a:pathLst>
              <a:path h="686832" w="2960969">
                <a:moveTo>
                  <a:pt x="0" y="0"/>
                </a:moveTo>
                <a:lnTo>
                  <a:pt x="2960969" y="0"/>
                </a:lnTo>
                <a:lnTo>
                  <a:pt x="2960969" y="686832"/>
                </a:lnTo>
                <a:lnTo>
                  <a:pt x="0" y="686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314" r="0" b="-17179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5589361" y="7594040"/>
            <a:ext cx="2429618" cy="2875304"/>
          </a:xfrm>
          <a:custGeom>
            <a:avLst/>
            <a:gdLst/>
            <a:ahLst/>
            <a:cxnLst/>
            <a:rect r="r" b="b" t="t" l="l"/>
            <a:pathLst>
              <a:path h="2875304" w="2429618">
                <a:moveTo>
                  <a:pt x="0" y="0"/>
                </a:moveTo>
                <a:lnTo>
                  <a:pt x="2429618" y="0"/>
                </a:lnTo>
                <a:lnTo>
                  <a:pt x="2429618" y="2875304"/>
                </a:lnTo>
                <a:lnTo>
                  <a:pt x="0" y="2875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43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806382" y="8223451"/>
            <a:ext cx="2897137" cy="1388614"/>
          </a:xfrm>
          <a:custGeom>
            <a:avLst/>
            <a:gdLst/>
            <a:ahLst/>
            <a:cxnLst/>
            <a:rect r="r" b="b" t="t" l="l"/>
            <a:pathLst>
              <a:path h="1388614" w="2897137">
                <a:moveTo>
                  <a:pt x="0" y="0"/>
                </a:moveTo>
                <a:lnTo>
                  <a:pt x="2897137" y="0"/>
                </a:lnTo>
                <a:lnTo>
                  <a:pt x="2897137" y="1388614"/>
                </a:lnTo>
                <a:lnTo>
                  <a:pt x="0" y="138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305" t="-157062" r="-50187" b="-157062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2503344" y="7860536"/>
            <a:ext cx="1967634" cy="1967634"/>
          </a:xfrm>
          <a:custGeom>
            <a:avLst/>
            <a:gdLst/>
            <a:ahLst/>
            <a:cxnLst/>
            <a:rect r="r" b="b" t="t" l="l"/>
            <a:pathLst>
              <a:path h="1967634" w="1967634">
                <a:moveTo>
                  <a:pt x="0" y="0"/>
                </a:moveTo>
                <a:lnTo>
                  <a:pt x="1967634" y="0"/>
                </a:lnTo>
                <a:lnTo>
                  <a:pt x="1967634" y="1967634"/>
                </a:lnTo>
                <a:lnTo>
                  <a:pt x="0" y="196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3518497" y="6300770"/>
            <a:ext cx="8174704" cy="7298595"/>
            <a:chOff x="0" y="0"/>
            <a:chExt cx="10899605" cy="973146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168145" y="0"/>
              <a:ext cx="9731460" cy="973146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4106991" y="2487203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0" y="4395253"/>
              <a:ext cx="2874431" cy="287443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5146667" y="31051"/>
              <a:ext cx="1760166" cy="1760166"/>
            </a:xfrm>
            <a:custGeom>
              <a:avLst/>
              <a:gdLst/>
              <a:ahLst/>
              <a:cxnLst/>
              <a:rect r="r" b="b" t="t" l="l"/>
              <a:pathLst>
                <a:path h="1760166" w="1760166">
                  <a:moveTo>
                    <a:pt x="0" y="0"/>
                  </a:moveTo>
                  <a:lnTo>
                    <a:pt x="1760166" y="0"/>
                  </a:lnTo>
                  <a:lnTo>
                    <a:pt x="1760166" y="1760165"/>
                  </a:lnTo>
                  <a:lnTo>
                    <a:pt x="0" y="176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268771" y="-3379991"/>
            <a:ext cx="9544076" cy="8258322"/>
            <a:chOff x="0" y="0"/>
            <a:chExt cx="12725435" cy="1101109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731460" cy="973146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387582" y="8451824"/>
              <a:ext cx="2559272" cy="2559272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1545842" y="2468209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7807237" y="1199118"/>
              <a:ext cx="4918198" cy="4918198"/>
            </a:xfrm>
            <a:custGeom>
              <a:avLst/>
              <a:gdLst/>
              <a:ahLst/>
              <a:cxnLst/>
              <a:rect r="r" b="b" t="t" l="l"/>
              <a:pathLst>
                <a:path h="4918198" w="4918198">
                  <a:moveTo>
                    <a:pt x="0" y="0"/>
                  </a:moveTo>
                  <a:lnTo>
                    <a:pt x="4918198" y="0"/>
                  </a:lnTo>
                  <a:lnTo>
                    <a:pt x="4918198" y="4918197"/>
                  </a:lnTo>
                  <a:lnTo>
                    <a:pt x="0" y="4918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2183611" y="506314"/>
            <a:ext cx="5683477" cy="1044772"/>
          </a:xfrm>
          <a:custGeom>
            <a:avLst/>
            <a:gdLst/>
            <a:ahLst/>
            <a:cxnLst/>
            <a:rect r="r" b="b" t="t" l="l"/>
            <a:pathLst>
              <a:path h="1044772" w="5683477">
                <a:moveTo>
                  <a:pt x="0" y="0"/>
                </a:moveTo>
                <a:lnTo>
                  <a:pt x="5683478" y="0"/>
                </a:lnTo>
                <a:lnTo>
                  <a:pt x="5683478" y="1044772"/>
                </a:lnTo>
                <a:lnTo>
                  <a:pt x="0" y="10447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5" id="25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6" id="26"/>
          <p:cNvSpPr/>
          <p:nvPr/>
        </p:nvSpPr>
        <p:spPr>
          <a:xfrm flipH="false" flipV="false" rot="0">
            <a:off x="7898443" y="8589780"/>
            <a:ext cx="1723675" cy="883825"/>
          </a:xfrm>
          <a:custGeom>
            <a:avLst/>
            <a:gdLst/>
            <a:ahLst/>
            <a:cxnLst/>
            <a:rect r="r" b="b" t="t" l="l"/>
            <a:pathLst>
              <a:path h="883825" w="1723675">
                <a:moveTo>
                  <a:pt x="0" y="0"/>
                </a:moveTo>
                <a:lnTo>
                  <a:pt x="1723675" y="0"/>
                </a:lnTo>
                <a:lnTo>
                  <a:pt x="1723675" y="883825"/>
                </a:lnTo>
                <a:lnTo>
                  <a:pt x="0" y="8838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52388" t="-153817" r="-49754" b="-140411"/>
            </a:stretch>
          </a:blipFill>
        </p:spPr>
        <p:txBody>
          <a:bodyPr/>
          <a:p/>
        </p:txBody>
      </p:sp>
      <p:sp>
        <p:nvSpPr>
          <p:cNvPr name="TextBox 27" id="27"/>
          <p:cNvSpPr txBox="true"/>
          <p:nvPr/>
        </p:nvSpPr>
        <p:spPr>
          <a:xfrm rot="0">
            <a:off x="797415" y="5580481"/>
            <a:ext cx="3595092" cy="135127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97D"/>
                </a:solidFill>
                <a:latin typeface="Calibri"/>
                <a:cs typeface="Calibri"/>
              </a:rPr>
              <a:t>Team KisaanRaksha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404D"/>
                </a:solidFill>
                <a:latin typeface="Calibri"/>
                <a:cs typeface="Calibri"/>
              </a:rPr>
              <a:t>Sahil Karande · Pranav Shripannavar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37368" y="7803386"/>
            <a:ext cx="3492197" cy="48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1"/>
              </a:lnSpc>
              <a:spcBef>
                <a:spcPct val="0"/>
              </a:spcBef>
            </a:pPr>
            <a:r>
              <a:rPr lang="en-US" b="true" sz="287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 xml:space="preserve">In Association with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06240" y="2286000"/>
            <a:ext cx="9875520" cy="2286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7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1F497D"/>
                </a:solidFill>
                <a:latin typeface="Calibri"/>
                <a:cs typeface="Calibri"/>
              </a:rPr>
              <a:t>KisaanRaksha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4F81BD"/>
                </a:solidFill>
                <a:latin typeface="Nirmala UI"/>
                <a:cs typeface="Nirmala UI"/>
              </a:rPr>
              <a:t>किसानरक्षा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3404D"/>
                </a:solidFill>
                <a:latin typeface="Calibri"/>
                <a:cs typeface="Calibri"/>
              </a:rPr>
              <a:t>Farmer Financial Distress Early-Warning System · Maharashtra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10160" y="5816582"/>
            <a:ext cx="4937760" cy="8636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r">
              <a:lnSpc>
                <a:spcPts val="7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F497D"/>
                </a:solidFill>
                <a:latin typeface="Calibri"/>
                <a:cs typeface="Calibri"/>
              </a:rPr>
              <a:t>Track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AI for Societal Good (Theme C)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703245" y="9622235"/>
            <a:ext cx="2551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148840"/>
            <a:ext cx="15727680" cy="20116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F497D"/>
                </a:solidFill>
                <a:latin typeface="Calibri"/>
                <a:cs typeface="Calibri"/>
              </a:rPr>
              <a:t>A farmer dies </a:t>
            </a:r>
            <a:r>
              <a:rPr sz="4400" b="1" i="0">
                <a:solidFill>
                  <a:srgbClr val="F79646"/>
                </a:solidFill>
                <a:latin typeface="Calibri"/>
                <a:cs typeface="Calibri"/>
              </a:rPr>
              <a:t>every 3 hours</a:t>
            </a:r>
            <a:r>
              <a:rPr sz="4400" b="1" i="0">
                <a:solidFill>
                  <a:srgbClr val="1F497D"/>
                </a:solidFill>
                <a:latin typeface="Calibri"/>
                <a:cs typeface="Calibri"/>
              </a:rPr>
              <a:t> in Maharashtra.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448056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709160"/>
            <a:ext cx="4480560" cy="1554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F497D"/>
                </a:solidFill>
                <a:latin typeface="Calibri"/>
                <a:cs typeface="Calibri"/>
              </a:rPr>
              <a:t>2,706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farmer deaths in Vidarbha &amp; Marathwada (2024)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48056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709160"/>
            <a:ext cx="4480560" cy="1554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497D"/>
                </a:solidFill>
                <a:latin typeface="Calibri"/>
                <a:cs typeface="Calibri"/>
              </a:rPr>
              <a:t>AFTER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the state responds only after the death — compensation, not prevention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6858000"/>
            <a:ext cx="13716000" cy="1143000"/>
          </a:xfrm>
          <a:prstGeom prst="roundRect">
            <a:avLst>
              <a:gd name="adj" fmla="val 6000"/>
            </a:avLst>
          </a:prstGeom>
          <a:solidFill>
            <a:srgbClr val="FD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6858000"/>
            <a:ext cx="1316736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5A00"/>
                </a:solidFill>
                <a:latin typeface="Calibri"/>
                <a:cs typeface="Calibri"/>
              </a:rPr>
              <a:t>The warning signs are public data. </a:t>
            </a:r>
            <a:r>
              <a:rPr sz="2200" b="1" i="0">
                <a:solidFill>
                  <a:srgbClr val="F79646"/>
                </a:solidFill>
                <a:latin typeface="Calibri"/>
                <a:cs typeface="Calibri"/>
              </a:rPr>
              <a:t>Nobody is watching.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703245" y="9622235"/>
            <a:ext cx="2551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The crisis is predictable.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926080"/>
            <a:ext cx="4754880" cy="26517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3200400"/>
            <a:ext cx="4114800" cy="21945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0" i="0">
                <a:solidFill>
                  <a:srgbClr val="1F497D"/>
                </a:solidFill>
                <a:latin typeface="Calibri"/>
                <a:cs typeface="Calibri"/>
              </a:rPr>
              <a:t>🌧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F497D"/>
                </a:solidFill>
                <a:latin typeface="Calibri"/>
                <a:cs typeface="Calibri"/>
              </a:rPr>
              <a:t>Failed monsoon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404D"/>
                </a:solidFill>
                <a:latin typeface="Calibri"/>
                <a:cs typeface="Calibri"/>
              </a:rPr>
              <a:t>the kharif crop is lost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53327" y="3977639"/>
            <a:ext cx="512064" cy="5029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79" y="2926080"/>
            <a:ext cx="4754880" cy="26517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19" y="3200400"/>
            <a:ext cx="4114800" cy="21945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0" i="0">
                <a:solidFill>
                  <a:srgbClr val="1F497D"/>
                </a:solidFill>
                <a:latin typeface="Calibri"/>
                <a:cs typeface="Calibri"/>
              </a:rPr>
              <a:t>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F497D"/>
                </a:solidFill>
                <a:latin typeface="Calibri"/>
                <a:cs typeface="Calibri"/>
              </a:rPr>
              <a:t>Mandi price crashes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404D"/>
                </a:solidFill>
                <a:latin typeface="Calibri"/>
                <a:cs typeface="Calibri"/>
              </a:rPr>
              <a:t>sells below the support price (MSP)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356847" y="3977639"/>
            <a:ext cx="512064" cy="5029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887200" y="2926080"/>
            <a:ext cx="4754880" cy="26517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207240" y="3200400"/>
            <a:ext cx="4114800" cy="21945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0" i="0">
                <a:solidFill>
                  <a:srgbClr val="1F497D"/>
                </a:solidFill>
                <a:latin typeface="Calibri"/>
                <a:cs typeface="Calibri"/>
              </a:rPr>
              <a:t>📅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F497D"/>
                </a:solidFill>
                <a:latin typeface="Calibri"/>
                <a:cs typeface="Calibri"/>
              </a:rPr>
              <a:t>Loan deadline hits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404D"/>
                </a:solidFill>
                <a:latin typeface="Calibri"/>
                <a:cs typeface="Calibri"/>
              </a:rPr>
              <a:t>repayment falls due with nothing to pay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989320"/>
            <a:ext cx="1554480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4F81BD"/>
                </a:solidFill>
                <a:latin typeface="Calibri"/>
                <a:cs typeface="Calibri"/>
              </a:rPr>
              <a:t>Every signal is publicly observable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703245" y="9622235"/>
            <a:ext cx="2551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Predict · Alert · Assist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83464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0200" y="310896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PREDICT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886200"/>
            <a:ext cx="4114800" cy="20116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Fuse four live signals into a single Financial Stress Index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B7A8C"/>
                </a:solidFill>
                <a:latin typeface="Calibri"/>
                <a:cs typeface="Calibri"/>
              </a:rPr>
              <a:t>0–100 per district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79" y="283464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03719" y="310896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19" y="3886200"/>
            <a:ext cx="4114800" cy="20116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The agriculture officer gets a WhatsApp alert with the 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B7A8C"/>
                </a:solidFill>
                <a:latin typeface="Calibri"/>
                <a:cs typeface="Calibri"/>
              </a:rPr>
              <a:t>before the crisis peaks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0" y="283464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207240" y="310896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ASSIST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07240" y="3886200"/>
            <a:ext cx="4114800" cy="20116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The farmer speaks Marathi and receives a drafted insurance claim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B7A8C"/>
                </a:solidFill>
                <a:latin typeface="Calibri"/>
                <a:cs typeface="Calibri"/>
              </a:rPr>
              <a:t>meets him where he already 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703245" y="9622235"/>
            <a:ext cx="2551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Custom MCP Server — no bare LLM calls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9848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3291840"/>
            <a:ext cx="3246120" cy="19202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Farmer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cs typeface="Calibri"/>
              </a:rPr>
              <a:t>WhatsApp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cs typeface="Calibri"/>
              </a:rPr>
              <a:t>Marathi voice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709160" y="3995928"/>
            <a:ext cx="512064" cy="51206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48656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6" y="3291840"/>
            <a:ext cx="3246120" cy="19202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Agent / LLM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cs typeface="Calibri"/>
              </a:rPr>
              <a:t>tool-calling loop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887968" y="3995928"/>
            <a:ext cx="512064" cy="51206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27464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0344" y="3291840"/>
            <a:ext cx="3246120" cy="19202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MCP Server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cs typeface="Calibri"/>
              </a:rPr>
              <a:t>7 role-scoped tools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3066776" y="3995928"/>
            <a:ext cx="512064" cy="51206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606272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89152" y="3291840"/>
            <a:ext cx="3246120" cy="19202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Grounded Data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cs typeface="Calibri"/>
              </a:rPr>
              <a:t>Open-Meteo · Agmarknet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  <a:cs typeface="Calibri"/>
              </a:rPr>
              <a:t>NASA MODIS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48" y="5943600"/>
            <a:ext cx="16148304" cy="1005840"/>
          </a:xfrm>
          <a:prstGeom prst="roundRect">
            <a:avLst>
              <a:gd name="adj" fmla="val 6000"/>
            </a:avLst>
          </a:prstGeom>
          <a:solidFill>
            <a:srgbClr val="FD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44168" y="5943600"/>
            <a:ext cx="15599663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5A00"/>
                </a:solidFill>
                <a:latin typeface="Calibri"/>
                <a:cs typeface="Calibri"/>
              </a:rPr>
              <a:t>Every fact comes from a grounded tool — never the model's memory.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703245" y="9622235"/>
            <a:ext cx="2551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Four signals → Financial Stress Index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743200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2743200"/>
            <a:ext cx="329184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497D"/>
                </a:solidFill>
                <a:latin typeface="Calibri"/>
                <a:cs typeface="Calibri"/>
              </a:rPr>
              <a:t>Drought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43200"/>
            <a:ext cx="365760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30-day rainfall deficit vs 5-yr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43200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A8C"/>
                </a:solidFill>
                <a:latin typeface="Calibri"/>
                <a:cs typeface="Calibri"/>
              </a:rPr>
              <a:t>Open-Meteo ERA5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3730752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3730752"/>
            <a:ext cx="329184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497D"/>
                </a:solidFill>
                <a:latin typeface="Calibri"/>
                <a:cs typeface="Calibri"/>
              </a:rPr>
              <a:t>Mandi price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730752"/>
            <a:ext cx="365760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market price vs MSP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730752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A8C"/>
                </a:solidFill>
                <a:latin typeface="Calibri"/>
                <a:cs typeface="Calibri"/>
              </a:rPr>
              <a:t>Agmarknet · data.gov.in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" y="4718304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4718304"/>
            <a:ext cx="329184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497D"/>
                </a:solidFill>
                <a:latin typeface="Calibri"/>
                <a:cs typeface="Calibri"/>
              </a:rPr>
              <a:t>Crop health (NDVI)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718304"/>
            <a:ext cx="365760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vegetation stress from 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718304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A8C"/>
                </a:solidFill>
                <a:latin typeface="Calibri"/>
                <a:cs typeface="Calibri"/>
              </a:rPr>
              <a:t>NASA MODIS MOD13Q1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" y="5705856"/>
            <a:ext cx="10241280" cy="841248"/>
          </a:xfrm>
          <a:prstGeom prst="roundRect">
            <a:avLst>
              <a:gd name="adj" fmla="val 6000"/>
            </a:avLst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5705856"/>
            <a:ext cx="329184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497D"/>
                </a:solidFill>
                <a:latin typeface="Calibri"/>
                <a:cs typeface="Calibri"/>
              </a:rPr>
              <a:t>Repayment proximity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5705856"/>
            <a:ext cx="365760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days to the loan-due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705856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A8C"/>
                </a:solidFill>
                <a:latin typeface="Calibri"/>
                <a:cs typeface="Calibri"/>
              </a:rPr>
              <a:t>district crop calendar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1704320" y="4297680"/>
            <a:ext cx="777240" cy="7315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710160" y="3200400"/>
            <a:ext cx="4297680" cy="292608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93040" y="3383280"/>
            <a:ext cx="3931920" cy="25603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  <a:cs typeface="Calibri"/>
              </a:rPr>
              <a:t>LightGBM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BFD3EA"/>
                </a:solidFill>
                <a:latin typeface="Calibri"/>
                <a:cs typeface="Calibri"/>
              </a:rPr>
              <a:t>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BACC6"/>
                </a:solidFill>
                <a:latin typeface="Calibri"/>
                <a:cs typeface="Calibri"/>
              </a:rPr>
              <a:t>FSI  0–100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703245" y="9622235"/>
            <a:ext cx="2551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A model that decides attention must be audited.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651760"/>
            <a:ext cx="7680960" cy="35661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2971800"/>
            <a:ext cx="7040880" cy="3017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497D"/>
                </a:solidFill>
                <a:latin typeface="Calibri"/>
                <a:cs typeface="Calibri"/>
              </a:rPr>
              <a:t>Fairlearn bias audit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33404D"/>
                </a:solidFill>
                <a:latin typeface="Calibri"/>
                <a:cs typeface="Calibri"/>
              </a:rPr>
              <a:t>The harm metric is a missed farmer. We check the false-negative-rate gap across regions and crops.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1B5E2E"/>
                </a:solidFill>
                <a:latin typeface="Calibri"/>
                <a:cs typeface="Calibri"/>
              </a:rPr>
              <a:t>✔  All fairness gates pass  —  FNR gap &lt; 0.10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B7A8C"/>
                </a:solidFill>
                <a:latin typeface="Calibri"/>
                <a:cs typeface="Calibri"/>
              </a:rPr>
              <a:t>Audited across Vidarbha &amp; Marathwada, and across cotton, soybean and tur.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651760"/>
            <a:ext cx="7680960" cy="1078992"/>
          </a:xfrm>
          <a:prstGeom prst="roundRect">
            <a:avLst>
              <a:gd name="adj" fmla="val 6000"/>
            </a:avLst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2651760"/>
            <a:ext cx="7040880" cy="107899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97D"/>
                </a:solidFill>
                <a:latin typeface="Calibri"/>
                <a:cs typeface="Calibri"/>
              </a:rPr>
              <a:t>Fully synthetic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04D"/>
                </a:solidFill>
                <a:latin typeface="Calibri"/>
                <a:cs typeface="Calibri"/>
              </a:rPr>
              <a:t>no model trained on real farmers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3858768"/>
            <a:ext cx="7680960" cy="1078992"/>
          </a:xfrm>
          <a:prstGeom prst="roundRect">
            <a:avLst>
              <a:gd name="adj" fmla="val 6000"/>
            </a:avLst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3858768"/>
            <a:ext cx="7040880" cy="107899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97D"/>
                </a:solidFill>
                <a:latin typeface="Calibri"/>
                <a:cs typeface="Calibri"/>
              </a:rPr>
              <a:t>Zero farmer PII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04D"/>
                </a:solidFill>
                <a:latin typeface="Calibri"/>
                <a:cs typeface="Calibri"/>
              </a:rPr>
              <a:t>identities hashed, never stored raw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5065776"/>
            <a:ext cx="7680960" cy="1078992"/>
          </a:xfrm>
          <a:prstGeom prst="roundRect">
            <a:avLst>
              <a:gd name="adj" fmla="val 6000"/>
            </a:avLst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5065776"/>
            <a:ext cx="7040880" cy="107899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97D"/>
                </a:solidFill>
                <a:latin typeface="Calibri"/>
                <a:cs typeface="Calibri"/>
              </a:rPr>
              <a:t>Every source cited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04D"/>
                </a:solidFill>
                <a:latin typeface="Calibri"/>
                <a:cs typeface="Calibri"/>
              </a:rPr>
              <a:t>reproducible and auditable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703245" y="9622235"/>
            <a:ext cx="2551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A working system, end to 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606040"/>
            <a:ext cx="7680960" cy="16916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2606040"/>
            <a:ext cx="822960" cy="1691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5E2E"/>
                </a:solidFill>
                <a:latin typeface="Calibri"/>
                <a:cs typeface="Calibri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2606040"/>
            <a:ext cx="6309360" cy="1691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F497D"/>
                </a:solidFill>
                <a:latin typeface="Calibri"/>
                <a:cs typeface="Calibri"/>
              </a:rPr>
              <a:t>Live signal pipeline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real weather, Agmarknet prices &amp; NASA satellite data, fused per district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606040"/>
            <a:ext cx="7680960" cy="16916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2606040"/>
            <a:ext cx="822960" cy="1691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5E2E"/>
                </a:solidFill>
                <a:latin typeface="Calibri"/>
                <a:cs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2606040"/>
            <a:ext cx="6309360" cy="1691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F497D"/>
                </a:solidFill>
                <a:latin typeface="Calibri"/>
                <a:cs typeface="Calibri"/>
              </a:rPr>
              <a:t>7-tool MCP server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every fact grounded and fully traceable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4617720"/>
            <a:ext cx="7680960" cy="16916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4617720"/>
            <a:ext cx="822960" cy="1691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5E2E"/>
                </a:solidFill>
                <a:latin typeface="Calibri"/>
                <a:cs typeface="Calibri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617720"/>
            <a:ext cx="6309360" cy="1691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F497D"/>
                </a:solidFill>
                <a:latin typeface="Calibri"/>
                <a:cs typeface="Calibri"/>
              </a:rPr>
              <a:t>Marathi WhatsApp loop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voice in → FSI → officer alert + auto-drafted claim, on a real phone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4617720"/>
            <a:ext cx="7680960" cy="16916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4617720"/>
            <a:ext cx="822960" cy="1691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5E2E"/>
                </a:solidFill>
                <a:latin typeface="Calibri"/>
                <a:cs typeface="Calibri"/>
              </a:rP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4617720"/>
            <a:ext cx="6309360" cy="1691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F497D"/>
                </a:solidFill>
                <a:latin typeface="Calibri"/>
                <a:cs typeface="Calibri"/>
              </a:rPr>
              <a:t>Fairlearn-audited 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04D"/>
                </a:solidFill>
                <a:latin typeface="Calibri"/>
                <a:cs typeface="Calibri"/>
              </a:rPr>
              <a:t>all fairness gates pass · zero farmer PII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6720840"/>
            <a:ext cx="1389888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A8C"/>
                </a:solidFill>
                <a:latin typeface="Calibri"/>
                <a:cs typeface="Calibri"/>
              </a:rPr>
              <a:t>Trained on our own synthetic dataset (flagged for IEEE Dataport). Real-world predictive validation is scoped as a one-season field pilot.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703245" y="9622235"/>
            <a:ext cx="2551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Verified end-to-end on a real phone.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651760"/>
            <a:ext cx="9326880" cy="3794760"/>
          </a:xfrm>
          <a:prstGeom prst="roundRect">
            <a:avLst>
              <a:gd name="adj" fmla="val 6000"/>
            </a:avLst>
          </a:prstGeom>
          <a:solidFill>
            <a:srgbClr val="EC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278892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7A8C"/>
                </a:solidFill>
                <a:latin typeface="Calibri"/>
                <a:cs typeface="Calibri"/>
              </a:rPr>
              <a:t>Officer's phone — WhatsApp alert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3246120"/>
            <a:ext cx="85039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3474720"/>
            <a:ext cx="7863840" cy="2606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F79646"/>
                </a:solidFill>
                <a:latin typeface="Calibri"/>
                <a:cs typeface="Calibri"/>
              </a:rPr>
              <a:t>⚠  Amravati · FSI 87.9 CRITICAL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Rainfall deficit — drought conditions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Cotton price 18% below MSP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Satellite NDVI 0.39 (crop stress)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1">
                <a:solidFill>
                  <a:srgbClr val="6B7A8C"/>
                </a:solidFill>
                <a:latin typeface="Calibri"/>
                <a:cs typeface="Calibri"/>
              </a:rPr>
              <a:t>[ SIMULATION — labelled demo pattern 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0" y="2651760"/>
            <a:ext cx="6035040" cy="37947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92840" y="3017520"/>
            <a:ext cx="5486400" cy="3200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1F497D"/>
                </a:solidFill>
                <a:latin typeface="Calibri"/>
                <a:cs typeface="Calibri"/>
              </a:rPr>
              <a:t>Calm day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33404D"/>
                </a:solidFill>
                <a:latin typeface="Calibri"/>
                <a:cs typeface="Calibri"/>
              </a:rPr>
              <a:t>Real data, today: the system checks the signals and sees low stress —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1B5E2E"/>
                </a:solidFill>
                <a:latin typeface="Calibri"/>
                <a:cs typeface="Calibri"/>
              </a:rPr>
              <a:t>FSI 20.9 → all clear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7A8C"/>
                </a:solidFill>
                <a:latin typeface="Calibri"/>
                <a:cs typeface="Calibri"/>
              </a:rPr>
              <a:t>It does not cry wolf. That restraint matters.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5383205" y="9622235"/>
            <a:ext cx="8037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"/>
            <a:ext cx="969264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  <a:cs typeface="Calibri"/>
              </a:rPr>
              <a:t>Built to reach the farmer — and to scale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697480"/>
            <a:ext cx="7498079" cy="28803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0200" y="297180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Accessibility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3703320"/>
            <a:ext cx="685800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WhatsApp voice — no app to install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Marathi-first, any phone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Offline-tolerant for low connectivity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697480"/>
            <a:ext cx="7498079" cy="28803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46920" y="297180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703320"/>
            <a:ext cx="685800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16 → 36 districts by config alone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Pan-India public data APIs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04D"/>
                </a:solidFill>
                <a:latin typeface="Calibri"/>
                <a:cs typeface="Calibri"/>
              </a:rPr>
              <a:t>•  Fractions of a rupee per conversation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6080760"/>
            <a:ext cx="15727680" cy="96012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6080760"/>
            <a:ext cx="15179040" cy="9601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cs typeface="Calibri"/>
              </a:rPr>
              <a:t>Deployment path:  handoff to Krishi Vibhag  ·  one-season Amravati pilot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06885" y="7434580"/>
            <a:ext cx="6295707" cy="5704840"/>
            <a:chOff x="0" y="0"/>
            <a:chExt cx="8394276" cy="76064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823" y="0"/>
              <a:ext cx="7606453" cy="760645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576993"/>
              <a:ext cx="2452467" cy="245246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84929" y="1944086"/>
              <a:ext cx="4288364" cy="4288364"/>
            </a:xfrm>
            <a:custGeom>
              <a:avLst/>
              <a:gdLst/>
              <a:ahLst/>
              <a:cxnLst/>
              <a:rect r="r" b="b" t="t" l="l"/>
              <a:pathLst>
                <a:path h="4288364" w="4288364">
                  <a:moveTo>
                    <a:pt x="0" y="0"/>
                  </a:moveTo>
                  <a:lnTo>
                    <a:pt x="4288364" y="0"/>
                  </a:lnTo>
                  <a:lnTo>
                    <a:pt x="4288364" y="4288364"/>
                  </a:lnTo>
                  <a:lnTo>
                    <a:pt x="0" y="428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0419" y="0"/>
              <a:ext cx="1375808" cy="1375808"/>
            </a:xfrm>
            <a:custGeom>
              <a:avLst/>
              <a:gdLst/>
              <a:ahLst/>
              <a:cxnLst/>
              <a:rect r="r" b="b" t="t" l="l"/>
              <a:pathLst>
                <a:path h="1375808" w="1375808">
                  <a:moveTo>
                    <a:pt x="0" y="0"/>
                  </a:moveTo>
                  <a:lnTo>
                    <a:pt x="1375807" y="0"/>
                  </a:lnTo>
                  <a:lnTo>
                    <a:pt x="1375807" y="1375808"/>
                  </a:lnTo>
                  <a:lnTo>
                    <a:pt x="0" y="137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418704" y="-2636175"/>
            <a:ext cx="6894808" cy="5965957"/>
            <a:chOff x="0" y="0"/>
            <a:chExt cx="9193078" cy="79546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030178" cy="703017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318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24831" y="6105746"/>
              <a:ext cx="1848863" cy="18488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9C5F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16744" y="1783078"/>
              <a:ext cx="3963472" cy="3963472"/>
            </a:xfrm>
            <a:custGeom>
              <a:avLst/>
              <a:gdLst/>
              <a:ahLst/>
              <a:cxnLst/>
              <a:rect r="r" b="b" t="t" l="l"/>
              <a:pathLst>
                <a:path h="3963472" w="3963472">
                  <a:moveTo>
                    <a:pt x="0" y="0"/>
                  </a:moveTo>
                  <a:lnTo>
                    <a:pt x="3963472" y="0"/>
                  </a:lnTo>
                  <a:lnTo>
                    <a:pt x="3963472" y="3963472"/>
                  </a:lnTo>
                  <a:lnTo>
                    <a:pt x="0" y="3963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640085" y="866264"/>
              <a:ext cx="3552992" cy="3552992"/>
            </a:xfrm>
            <a:custGeom>
              <a:avLst/>
              <a:gdLst/>
              <a:ahLst/>
              <a:cxnLst/>
              <a:rect r="r" b="b" t="t" l="l"/>
              <a:pathLst>
                <a:path h="3552992" w="3552992">
                  <a:moveTo>
                    <a:pt x="0" y="0"/>
                  </a:moveTo>
                  <a:lnTo>
                    <a:pt x="3552993" y="0"/>
                  </a:lnTo>
                  <a:lnTo>
                    <a:pt x="3552993" y="3552992"/>
                  </a:lnTo>
                  <a:lnTo>
                    <a:pt x="0" y="355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285236" y="333444"/>
            <a:ext cx="4523022" cy="831450"/>
          </a:xfrm>
          <a:custGeom>
            <a:avLst/>
            <a:gdLst/>
            <a:ahLst/>
            <a:cxnLst/>
            <a:rect r="r" b="b" t="t" l="l"/>
            <a:pathLst>
              <a:path h="831450" w="4523022">
                <a:moveTo>
                  <a:pt x="0" y="0"/>
                </a:moveTo>
                <a:lnTo>
                  <a:pt x="4523022" y="0"/>
                </a:lnTo>
                <a:lnTo>
                  <a:pt x="4523022" y="831451"/>
                </a:lnTo>
                <a:lnTo>
                  <a:pt x="0" y="831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9072" r="-2111" b="-228314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2685" y="9258300"/>
            <a:ext cx="2392275" cy="430610"/>
          </a:xfrm>
          <a:custGeom>
            <a:avLst/>
            <a:gdLst/>
            <a:ahLst/>
            <a:cxnLst/>
            <a:rect r="r" b="b" t="t" l="l"/>
            <a:pathLst>
              <a:path h="430610" w="2392275">
                <a:moveTo>
                  <a:pt x="0" y="0"/>
                </a:moveTo>
                <a:lnTo>
                  <a:pt x="2392276" y="0"/>
                </a:lnTo>
                <a:lnTo>
                  <a:pt x="2392276" y="430610"/>
                </a:lnTo>
                <a:lnTo>
                  <a:pt x="0" y="43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013827" y="3189756"/>
            <a:ext cx="10260346" cy="424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7"/>
              </a:lnSpc>
            </a:pPr>
            <a:r>
              <a:rPr lang="en-US" b="true" sz="16512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THANK</a:t>
            </a:r>
          </a:p>
          <a:p>
            <a:pPr algn="ctr">
              <a:lnSpc>
                <a:spcPts val="16347"/>
              </a:lnSpc>
            </a:pPr>
            <a:r>
              <a:rPr lang="en-US" b="true" sz="16512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DAHMzfO_YzM</dc:identifier>
  <dcterms:modified xsi:type="dcterms:W3CDTF">2011-08-01T06:04:30Z</dcterms:modified>
  <cp:revision>1</cp:revision>
  <dc:title>H4H Ppt Template</dc:title>
</cp:coreProperties>
</file>